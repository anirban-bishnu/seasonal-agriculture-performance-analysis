
<file path=[Content_Types].xml><?xml version="1.0" encoding="utf-8"?>
<Types xmlns="http://schemas.openxmlformats.org/package/2006/content-types">
  <Default Extension="jfif"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20"/>
  </p:notesMasterIdLst>
  <p:handoutMasterIdLst>
    <p:handoutMasterId r:id="rId21"/>
  </p:handoutMasterIdLst>
  <p:sldIdLst>
    <p:sldId id="338" r:id="rId5"/>
    <p:sldId id="327" r:id="rId6"/>
    <p:sldId id="329" r:id="rId7"/>
    <p:sldId id="302" r:id="rId8"/>
    <p:sldId id="339" r:id="rId9"/>
    <p:sldId id="347" r:id="rId10"/>
    <p:sldId id="346" r:id="rId11"/>
    <p:sldId id="345" r:id="rId12"/>
    <p:sldId id="344" r:id="rId13"/>
    <p:sldId id="349" r:id="rId14"/>
    <p:sldId id="348" r:id="rId15"/>
    <p:sldId id="341" r:id="rId16"/>
    <p:sldId id="342" r:id="rId17"/>
    <p:sldId id="343" r:id="rId18"/>
    <p:sldId id="304"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110" d="100"/>
          <a:sy n="110" d="100"/>
        </p:scale>
        <p:origin x="510" y="114"/>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9/24/2026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9/24/2026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4</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9/24/2026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9/24/2026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9/24/2026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9/24/2026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9/24/2026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9/24/2026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9/24/2026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9/24/2026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8.xml"/><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hyperlink" Target="https://github.com/Anirban-Bishnu/Seasonal-Agriculture-Performance-Analysis/tree/main" TargetMode="External"/><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hyperlink" Target="https://colab.research.google.com/drive/1M4RQRjmjWe2si6QuJ2pzNEyjS4IO3rNT#scrollTo=2nbKqI9rdDVd"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466952" y="3780962"/>
            <a:ext cx="8552148" cy="861497"/>
          </a:xfrm>
        </p:spPr>
        <p:txBody>
          <a:bodyPr vert="horz" wrap="square" lIns="91440" tIns="45720" rIns="91440" bIns="45720" rtlCol="0" anchor="t">
            <a:normAutofit fontScale="92500" lnSpcReduction="20000"/>
          </a:bodyPr>
          <a:lstStyle/>
          <a:p>
            <a:r>
              <a:rPr lang="en-US" sz="2800" dirty="0">
                <a:solidFill>
                  <a:srgbClr val="142837"/>
                </a:solidFill>
                <a:latin typeface="Aptos"/>
              </a:rPr>
              <a:t>Name : Anirban Bishnu</a:t>
            </a:r>
            <a:r>
              <a:rPr sz="2800" b="1" dirty="0">
                <a:solidFill>
                  <a:srgbClr val="142837"/>
                </a:solidFill>
                <a:latin typeface="Aptos"/>
              </a:rPr>
              <a:t>
</a:t>
            </a:r>
            <a:r>
              <a:rPr lang="en-US" sz="2800" b="1" dirty="0">
                <a:solidFill>
                  <a:srgbClr val="142837"/>
                </a:solidFill>
                <a:latin typeface="Aptos"/>
              </a:rPr>
              <a:t>Collage Name : </a:t>
            </a:r>
            <a:r>
              <a:rPr lang="en-US" sz="2800" dirty="0">
                <a:solidFill>
                  <a:srgbClr val="142837"/>
                </a:solidFill>
                <a:latin typeface="Aptos"/>
              </a:rPr>
              <a:t>University Institute of Technology</a:t>
            </a:r>
            <a:endParaRPr lang="en-US" sz="2800" dirty="0">
              <a:solidFill>
                <a:schemeClr val="tx2"/>
              </a:solidFill>
            </a:endParaRPr>
          </a:p>
          <a:p>
            <a:pPr algn="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466952" y="2756118"/>
            <a:ext cx="10331677" cy="743448"/>
          </a:xfrm>
        </p:spPr>
        <p:txBody>
          <a:bodyPr wrap="square">
            <a:noAutofit/>
          </a:bodyPr>
          <a:lstStyle/>
          <a:p>
            <a:pPr algn="l"/>
            <a:r>
              <a:rPr b="1" i="1" dirty="0">
                <a:solidFill>
                  <a:srgbClr val="142837"/>
                </a:solidFill>
                <a:latin typeface="Aptos"/>
              </a:rPr>
              <a:t>Project Title –</a:t>
            </a:r>
            <a:r>
              <a:rPr lang="en-US" b="1" i="1" dirty="0">
                <a:solidFill>
                  <a:srgbClr val="142837"/>
                </a:solidFill>
                <a:latin typeface="Aptos"/>
              </a:rPr>
              <a:t>  </a:t>
            </a:r>
            <a:r>
              <a:rPr b="1" i="1" dirty="0">
                <a:solidFill>
                  <a:srgbClr val="142837"/>
                </a:solidFill>
                <a:latin typeface="Aptos"/>
              </a:rPr>
              <a:t>Seasonal Agriculture Performance Analysis</a:t>
            </a:r>
            <a:endParaRPr lang="en-IN" i="1"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466952" y="4581499"/>
            <a:ext cx="10122672" cy="523220"/>
          </a:xfrm>
          <a:prstGeom prst="rect">
            <a:avLst/>
          </a:prstGeom>
          <a:noFill/>
        </p:spPr>
        <p:txBody>
          <a:bodyPr wrap="square" rtlCol="0">
            <a:spAutoFit/>
          </a:bodyPr>
          <a:lstStyle/>
          <a:p>
            <a:r>
              <a:rPr sz="2800" b="1" dirty="0">
                <a:solidFill>
                  <a:srgbClr val="142837"/>
                </a:solidFill>
                <a:latin typeface="Aptos"/>
              </a:rPr>
              <a:t>AICTE STU ID </a:t>
            </a:r>
            <a:r>
              <a:rPr sz="2800" b="0" dirty="0">
                <a:solidFill>
                  <a:srgbClr val="142837"/>
                </a:solidFill>
                <a:latin typeface="Aptos"/>
              </a:rPr>
              <a:t>: </a:t>
            </a:r>
            <a:r>
              <a:rPr lang="en-US" sz="2800" b="0" dirty="0">
                <a:solidFill>
                  <a:srgbClr val="142837"/>
                </a:solidFill>
                <a:latin typeface="Aptos"/>
              </a:rPr>
              <a:t> </a:t>
            </a:r>
            <a:r>
              <a:rPr lang="en-IN" sz="2800" b="1" dirty="0"/>
              <a:t>STU6a6788dc7129f1785170140</a:t>
            </a:r>
            <a:endParaRPr sz="2800" b="1" dirty="0">
              <a:solidFill>
                <a:srgbClr val="142837"/>
              </a:solidFill>
              <a:latin typeface="Aptos"/>
            </a:endParaRPr>
          </a:p>
        </p:txBody>
      </p:sp>
    </p:spTree>
    <p:extLst>
      <p:ext uri="{BB962C8B-B14F-4D97-AF65-F5344CB8AC3E}">
        <p14:creationId xmlns:p14="http://schemas.microsoft.com/office/powerpoint/2010/main" val="16040134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754602" y="2102230"/>
            <a:ext cx="6431280" cy="3607987"/>
          </a:xfrm>
        </p:spPr>
        <p:txBody>
          <a:bodyPr vert="horz" wrap="square" lIns="91440" tIns="45720" rIns="91440" bIns="45720" rtlCol="0" anchor="t">
            <a:normAutofit/>
          </a:bodyPr>
          <a:lstStyle/>
          <a:p>
            <a:pPr algn="just"/>
            <a:r>
              <a:rPr lang="en-US" sz="1600" dirty="0"/>
              <a:t>Agricultural performance varies significantly across seasons due to changes in </a:t>
            </a:r>
            <a:r>
              <a:rPr lang="en-US" sz="1600" b="1" dirty="0"/>
              <a:t>environmental conditions, farming practices, resource availability, and market conditions</a:t>
            </a:r>
            <a:r>
              <a:rPr lang="en-US" sz="1600" dirty="0"/>
              <a:t>. However, raw agricultural data does not clearly explain how these factors influence crop yield, production, resource efficiency, and profitability across different seasons.</a:t>
            </a:r>
          </a:p>
          <a:p>
            <a:pPr algn="just"/>
            <a:r>
              <a:rPr lang="en-US" sz="1600" b="1" dirty="0"/>
              <a:t>The problem is to analyze the agricultural dataset and identify meaningful seasonal patterns, trends, relationships, and variations in agricultural performance, so that differences between seasons can be understood and used to support better agricultural planning and decision-making.</a:t>
            </a:r>
            <a:endParaRPr lang="en-US" sz="16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2110630"/>
            <a:ext cx="7904481" cy="3990023"/>
          </a:xfrm>
        </p:spPr>
        <p:txBody>
          <a:bodyPr wrap="square">
            <a:normAutofit/>
          </a:bodyPr>
          <a:lstStyle/>
          <a:p>
            <a:pPr lvl="0" algn="just"/>
            <a:r>
              <a:rPr lang="en-US" sz="1800" b="1" dirty="0">
                <a:solidFill>
                  <a:schemeClr val="accent2">
                    <a:lumMod val="50000"/>
                  </a:schemeClr>
                </a:solidFill>
              </a:rPr>
              <a:t>Farmers</a:t>
            </a:r>
            <a:r>
              <a:rPr lang="en-US" sz="1800" dirty="0"/>
              <a:t> </a:t>
            </a:r>
            <a:r>
              <a:rPr lang="en-US" sz="1600" dirty="0"/>
              <a:t>– to understand seasonal crop performance, yield, resource usage, and profitability. </a:t>
            </a:r>
          </a:p>
          <a:p>
            <a:pPr lvl="0" algn="just"/>
            <a:r>
              <a:rPr lang="en-US" sz="1800" b="1" dirty="0">
                <a:solidFill>
                  <a:schemeClr val="accent2">
                    <a:lumMod val="50000"/>
                  </a:schemeClr>
                </a:solidFill>
              </a:rPr>
              <a:t>Agricultural Planners &amp; Advisors</a:t>
            </a:r>
            <a:r>
              <a:rPr lang="en-US" sz="1800" dirty="0">
                <a:solidFill>
                  <a:schemeClr val="accent2">
                    <a:lumMod val="50000"/>
                  </a:schemeClr>
                </a:solidFill>
              </a:rPr>
              <a:t> – </a:t>
            </a:r>
            <a:r>
              <a:rPr lang="en-US" sz="1600" dirty="0"/>
              <a:t>to support seasonal crop planning and resource allocation. </a:t>
            </a:r>
          </a:p>
          <a:p>
            <a:pPr lvl="0" algn="just"/>
            <a:r>
              <a:rPr lang="en-US" sz="1800" b="1" dirty="0">
                <a:solidFill>
                  <a:schemeClr val="accent2">
                    <a:lumMod val="50000"/>
                  </a:schemeClr>
                </a:solidFill>
              </a:rPr>
              <a:t>Government &amp; Agriculture Departments</a:t>
            </a:r>
            <a:r>
              <a:rPr lang="en-US" sz="1800" dirty="0">
                <a:solidFill>
                  <a:schemeClr val="accent2">
                    <a:lumMod val="50000"/>
                  </a:schemeClr>
                </a:solidFill>
              </a:rPr>
              <a:t> </a:t>
            </a:r>
            <a:r>
              <a:rPr lang="en-US" sz="1600" dirty="0"/>
              <a:t>– to support evidence-based agricultural policies and programs. </a:t>
            </a:r>
          </a:p>
          <a:p>
            <a:pPr lvl="0" algn="just"/>
            <a:r>
              <a:rPr lang="en-US" sz="1800" b="1" dirty="0">
                <a:solidFill>
                  <a:schemeClr val="accent2">
                    <a:lumMod val="50000"/>
                  </a:schemeClr>
                </a:solidFill>
              </a:rPr>
              <a:t>Agribusiness &amp; Input Suppliers</a:t>
            </a:r>
            <a:r>
              <a:rPr lang="en-US" sz="1800" dirty="0">
                <a:solidFill>
                  <a:schemeClr val="accent2">
                    <a:lumMod val="50000"/>
                  </a:schemeClr>
                </a:solidFill>
              </a:rPr>
              <a:t> </a:t>
            </a:r>
            <a:r>
              <a:rPr lang="en-US" sz="1600" dirty="0"/>
              <a:t>– to understand seasonal demand for irrigation, fertilizers, pesticides, and other inputs. </a:t>
            </a:r>
          </a:p>
          <a:p>
            <a:pPr lvl="0" algn="just"/>
            <a:r>
              <a:rPr lang="en-US" sz="1800" b="1" dirty="0">
                <a:solidFill>
                  <a:schemeClr val="accent2">
                    <a:lumMod val="50000"/>
                  </a:schemeClr>
                </a:solidFill>
              </a:rPr>
              <a:t>Researchers &amp; Data Analysts</a:t>
            </a:r>
            <a:r>
              <a:rPr lang="en-US" sz="1800" dirty="0">
                <a:solidFill>
                  <a:schemeClr val="accent2">
                    <a:lumMod val="50000"/>
                  </a:schemeClr>
                </a:solidFill>
              </a:rPr>
              <a:t> </a:t>
            </a:r>
            <a:r>
              <a:rPr lang="en-US" sz="1600" dirty="0"/>
              <a:t>– to study relationships between environmental conditions, farming practices, and agricultural outcomes.</a:t>
            </a:r>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
        <p:nvSpPr>
          <p:cNvPr id="5" name="TextBox 4">
            <a:extLst>
              <a:ext uri="{FF2B5EF4-FFF2-40B4-BE49-F238E27FC236}">
                <a16:creationId xmlns:a16="http://schemas.microsoft.com/office/drawing/2014/main" id="{723C90B3-F39B-7FFE-62C2-F09BC52816CB}"/>
              </a:ext>
            </a:extLst>
          </p:cNvPr>
          <p:cNvSpPr txBox="1"/>
          <p:nvPr/>
        </p:nvSpPr>
        <p:spPr>
          <a:xfrm>
            <a:off x="484255" y="5773360"/>
            <a:ext cx="8378687" cy="646331"/>
          </a:xfrm>
          <a:prstGeom prst="rect">
            <a:avLst/>
          </a:prstGeom>
          <a:noFill/>
        </p:spPr>
        <p:txBody>
          <a:bodyPr wrap="square">
            <a:spAutoFit/>
          </a:bodyPr>
          <a:lstStyle/>
          <a:p>
            <a:r>
              <a:rPr lang="en-US" b="1" dirty="0"/>
              <a:t>In short:</a:t>
            </a:r>
            <a:r>
              <a:rPr lang="en-US" dirty="0"/>
              <a:t> The project helps stakeholders make </a:t>
            </a:r>
            <a:r>
              <a:rPr lang="en-US" b="1" dirty="0"/>
              <a:t>data-driven decisions for better seasonal agricultural planning, resource efficiency, and profitability</a:t>
            </a:r>
            <a:r>
              <a:rPr lang="en-US" dirty="0"/>
              <a:t>.</a:t>
            </a:r>
          </a:p>
        </p:txBody>
      </p:sp>
    </p:spTree>
    <p:extLst>
      <p:ext uri="{BB962C8B-B14F-4D97-AF65-F5344CB8AC3E}">
        <p14:creationId xmlns:p14="http://schemas.microsoft.com/office/powerpoint/2010/main" val="480750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452839" y="5722751"/>
            <a:ext cx="9027702" cy="5243448"/>
          </a:xfrm>
        </p:spPr>
        <p:txBody>
          <a:bodyPr wrap="square"/>
          <a:lstStyle/>
          <a:p>
            <a:pPr marL="457200" lvl="1" indent="0" algn="l">
              <a:lnSpc>
                <a:spcPct val="150000"/>
              </a:lnSpc>
              <a:buNone/>
            </a:pPr>
            <a:r>
              <a:rPr sz="1600" b="0" dirty="0">
                <a:solidFill>
                  <a:srgbClr val="142837"/>
                </a:solidFill>
                <a:latin typeface="Aptos"/>
              </a:rPr>
              <a:t>
Analytical workflow: Inspect → Clean → Compare → Visualize → Test → Interpret</a:t>
            </a: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306936"/>
            <a:ext cx="5306291" cy="847817"/>
          </a:xfrm>
        </p:spPr>
        <p:txBody>
          <a:bodyPr>
            <a:normAutofit/>
          </a:bodyPr>
          <a:lstStyle/>
          <a:p>
            <a:r>
              <a:rPr lang="en-US" dirty="0"/>
              <a:t>Technology Used</a:t>
            </a:r>
          </a:p>
        </p:txBody>
      </p:sp>
      <p:sp>
        <p:nvSpPr>
          <p:cNvPr id="4" name="TextBox 3">
            <a:extLst>
              <a:ext uri="{FF2B5EF4-FFF2-40B4-BE49-F238E27FC236}">
                <a16:creationId xmlns:a16="http://schemas.microsoft.com/office/drawing/2014/main" id="{EACFE45A-0613-43FA-7411-8F9F0B74A98B}"/>
              </a:ext>
            </a:extLst>
          </p:cNvPr>
          <p:cNvSpPr txBox="1"/>
          <p:nvPr/>
        </p:nvSpPr>
        <p:spPr>
          <a:xfrm>
            <a:off x="1711459" y="1154753"/>
            <a:ext cx="10078762" cy="5078313"/>
          </a:xfrm>
          <a:prstGeom prst="rect">
            <a:avLst/>
          </a:prstGeom>
          <a:noFill/>
        </p:spPr>
        <p:txBody>
          <a:bodyPr wrap="square">
            <a:spAutoFit/>
          </a:bodyPr>
          <a:lstStyle/>
          <a:p>
            <a:pPr algn="just">
              <a:buNone/>
            </a:pPr>
            <a:r>
              <a:rPr lang="en-US" b="1" dirty="0"/>
              <a:t>Programming &amp; Analysis</a:t>
            </a:r>
            <a:endParaRPr lang="en-US" dirty="0"/>
          </a:p>
          <a:p>
            <a:pPr marL="342900" lvl="0" indent="-342900" algn="just">
              <a:buFont typeface="Arial" panose="020B0604020202020204" pitchFamily="34" charset="0"/>
              <a:buChar char="•"/>
            </a:pPr>
            <a:r>
              <a:rPr lang="en-US" dirty="0"/>
              <a:t>Python </a:t>
            </a:r>
          </a:p>
          <a:p>
            <a:pPr marL="342900" lvl="0" indent="-342900" algn="just">
              <a:buFont typeface="Arial" panose="020B0604020202020204" pitchFamily="34" charset="0"/>
              <a:buChar char="•"/>
            </a:pPr>
            <a:r>
              <a:rPr lang="en-US" dirty="0"/>
              <a:t>Pandas </a:t>
            </a:r>
          </a:p>
          <a:p>
            <a:pPr marL="342900" lvl="0" indent="-342900" algn="just">
              <a:buFont typeface="Arial" panose="020B0604020202020204" pitchFamily="34" charset="0"/>
              <a:buChar char="•"/>
            </a:pPr>
            <a:r>
              <a:rPr lang="en-US" dirty="0"/>
              <a:t>NumPy </a:t>
            </a:r>
          </a:p>
          <a:p>
            <a:pPr marL="342900" lvl="0" indent="-342900" algn="just">
              <a:buFont typeface="Arial" panose="020B0604020202020204" pitchFamily="34" charset="0"/>
              <a:buChar char="•"/>
            </a:pPr>
            <a:r>
              <a:rPr lang="en-US" dirty="0"/>
              <a:t>SciPy </a:t>
            </a:r>
          </a:p>
          <a:p>
            <a:pPr marL="342900" lvl="0" indent="-342900" algn="just">
              <a:buFont typeface="Arial" panose="020B0604020202020204" pitchFamily="34" charset="0"/>
              <a:buChar char="•"/>
            </a:pPr>
            <a:endParaRPr lang="en-US" dirty="0"/>
          </a:p>
          <a:p>
            <a:pPr algn="just">
              <a:buNone/>
            </a:pPr>
            <a:r>
              <a:rPr lang="en-US" b="1" dirty="0"/>
              <a:t>Data Visualization</a:t>
            </a:r>
            <a:endParaRPr lang="en-US" dirty="0"/>
          </a:p>
          <a:p>
            <a:pPr marL="342900" lvl="0" indent="-342900" algn="just">
              <a:buFont typeface="Arial" panose="020B0604020202020204" pitchFamily="34" charset="0"/>
              <a:buChar char="•"/>
            </a:pPr>
            <a:r>
              <a:rPr lang="en-US" dirty="0"/>
              <a:t>Matplotlib </a:t>
            </a:r>
          </a:p>
          <a:p>
            <a:pPr marL="342900" lvl="0" indent="-342900" algn="just">
              <a:buFont typeface="Arial" panose="020B0604020202020204" pitchFamily="34" charset="0"/>
              <a:buChar char="•"/>
            </a:pPr>
            <a:r>
              <a:rPr lang="en-US" dirty="0"/>
              <a:t>Seaborn </a:t>
            </a:r>
          </a:p>
          <a:p>
            <a:pPr marL="342900" lvl="0" indent="-342900" algn="just">
              <a:buFont typeface="Arial" panose="020B0604020202020204" pitchFamily="34" charset="0"/>
              <a:buChar char="•"/>
            </a:pPr>
            <a:endParaRPr lang="en-US" dirty="0"/>
          </a:p>
          <a:p>
            <a:pPr algn="just">
              <a:buNone/>
            </a:pPr>
            <a:r>
              <a:rPr lang="en-US" b="1" dirty="0"/>
              <a:t>Development Environment</a:t>
            </a:r>
            <a:endParaRPr lang="en-US" dirty="0"/>
          </a:p>
          <a:p>
            <a:pPr marL="342900" lvl="0" indent="-342900" algn="just">
              <a:buFont typeface="Arial" panose="020B0604020202020204" pitchFamily="34" charset="0"/>
              <a:buChar char="•"/>
            </a:pPr>
            <a:r>
              <a:rPr lang="en-US" b="1" dirty="0"/>
              <a:t>Google </a:t>
            </a:r>
            <a:r>
              <a:rPr lang="en-US" b="1" dirty="0" err="1"/>
              <a:t>Colab</a:t>
            </a:r>
            <a:r>
              <a:rPr lang="en-US" dirty="0"/>
              <a:t> – for running and documenting the complete Jupyter Notebook analysis. </a:t>
            </a:r>
          </a:p>
          <a:p>
            <a:pPr marL="342900" lvl="0" indent="-342900" algn="just">
              <a:buFont typeface="Arial" panose="020B0604020202020204" pitchFamily="34" charset="0"/>
              <a:buChar char="•"/>
            </a:pPr>
            <a:endParaRPr lang="en-US" dirty="0"/>
          </a:p>
          <a:p>
            <a:pPr algn="just">
              <a:buNone/>
            </a:pPr>
            <a:r>
              <a:rPr lang="en-US" b="1" dirty="0"/>
              <a:t>Documentation &amp; Version Control</a:t>
            </a:r>
            <a:endParaRPr lang="en-US" dirty="0"/>
          </a:p>
          <a:p>
            <a:pPr marL="342900" lvl="0" indent="-342900" algn="just">
              <a:buFont typeface="Arial" panose="020B0604020202020204" pitchFamily="34" charset="0"/>
              <a:buChar char="•"/>
            </a:pPr>
            <a:r>
              <a:rPr lang="en-US" b="1" dirty="0"/>
              <a:t>GitHub</a:t>
            </a:r>
            <a:r>
              <a:rPr lang="en-US" dirty="0"/>
              <a:t> – for storing and sharing the project notebook, dataset, code, and documentation. </a:t>
            </a:r>
          </a:p>
          <a:p>
            <a:pPr marL="342900" lvl="0" indent="-342900" algn="just">
              <a:buFont typeface="Arial" panose="020B0604020202020204" pitchFamily="34" charset="0"/>
              <a:buChar char="•"/>
            </a:pPr>
            <a:endParaRPr lang="en-US" dirty="0"/>
          </a:p>
          <a:p>
            <a:pPr algn="just">
              <a:buNone/>
            </a:pPr>
            <a:r>
              <a:rPr lang="en-US" b="1" dirty="0"/>
              <a:t>Presentation</a:t>
            </a:r>
            <a:endParaRPr lang="en-US" dirty="0"/>
          </a:p>
          <a:p>
            <a:pPr marL="342900" lvl="0" indent="-342900" algn="just">
              <a:buFont typeface="Arial" panose="020B0604020202020204" pitchFamily="34" charset="0"/>
              <a:buChar char="•"/>
            </a:pPr>
            <a:r>
              <a:rPr lang="en-US" dirty="0"/>
              <a:t>Microsoft PowerPoint</a:t>
            </a:r>
          </a:p>
        </p:txBody>
      </p:sp>
      <p:pic>
        <p:nvPicPr>
          <p:cNvPr id="8" name="Picture 7">
            <a:extLst>
              <a:ext uri="{FF2B5EF4-FFF2-40B4-BE49-F238E27FC236}">
                <a16:creationId xmlns:a16="http://schemas.microsoft.com/office/drawing/2014/main" id="{999BA7F6-1B26-42F5-E961-569EB699E4BE}"/>
              </a:ext>
            </a:extLst>
          </p:cNvPr>
          <p:cNvPicPr>
            <a:picLocks noChangeAspect="1"/>
          </p:cNvPicPr>
          <p:nvPr/>
        </p:nvPicPr>
        <p:blipFill>
          <a:blip r:embed="rId5"/>
          <a:stretch>
            <a:fillRect/>
          </a:stretch>
        </p:blipFill>
        <p:spPr>
          <a:xfrm>
            <a:off x="4280919" y="1613608"/>
            <a:ext cx="5446176" cy="1815392"/>
          </a:xfrm>
          <a:prstGeom prst="rect">
            <a:avLst/>
          </a:prstGeom>
        </p:spPr>
      </p:pic>
    </p:spTree>
    <p:extLst>
      <p:ext uri="{BB962C8B-B14F-4D97-AF65-F5344CB8AC3E}">
        <p14:creationId xmlns:p14="http://schemas.microsoft.com/office/powerpoint/2010/main" val="13419010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pic>
        <p:nvPicPr>
          <p:cNvPr id="2" name="Picture 1">
            <a:extLst>
              <a:ext uri="{FF2B5EF4-FFF2-40B4-BE49-F238E27FC236}">
                <a16:creationId xmlns:a16="http://schemas.microsoft.com/office/drawing/2014/main" id="{B4D7D25C-F262-17B9-8381-08EC826C3F66}"/>
              </a:ext>
            </a:extLst>
          </p:cNvPr>
          <p:cNvPicPr>
            <a:picLocks noChangeAspect="1"/>
          </p:cNvPicPr>
          <p:nvPr/>
        </p:nvPicPr>
        <p:blipFill>
          <a:blip r:embed="rId3"/>
          <a:stretch>
            <a:fillRect/>
          </a:stretch>
        </p:blipFill>
        <p:spPr>
          <a:xfrm>
            <a:off x="443675" y="1235363"/>
            <a:ext cx="8740081" cy="3923046"/>
          </a:xfrm>
          <a:prstGeom prst="rect">
            <a:avLst/>
          </a:prstGeom>
        </p:spPr>
      </p:pic>
      <p:sp>
        <p:nvSpPr>
          <p:cNvPr id="6" name="TextBox 5">
            <a:extLst>
              <a:ext uri="{FF2B5EF4-FFF2-40B4-BE49-F238E27FC236}">
                <a16:creationId xmlns:a16="http://schemas.microsoft.com/office/drawing/2014/main" id="{DE984A05-FA39-7924-DD53-5913AF3D6599}"/>
              </a:ext>
            </a:extLst>
          </p:cNvPr>
          <p:cNvSpPr txBox="1"/>
          <p:nvPr/>
        </p:nvSpPr>
        <p:spPr>
          <a:xfrm>
            <a:off x="1121329" y="5360052"/>
            <a:ext cx="7684741" cy="646331"/>
          </a:xfrm>
          <a:prstGeom prst="rect">
            <a:avLst/>
          </a:prstGeom>
          <a:noFill/>
        </p:spPr>
        <p:txBody>
          <a:bodyPr wrap="square">
            <a:spAutoFit/>
          </a:bodyPr>
          <a:lstStyle/>
          <a:p>
            <a:pPr marL="285750" indent="-285750" algn="just">
              <a:buFont typeface="Arial" panose="020B0604020202020204" pitchFamily="34" charset="0"/>
              <a:buChar char="•"/>
            </a:pPr>
            <a:r>
              <a:rPr lang="en-US" b="1" dirty="0"/>
              <a:t>Key Insight :</a:t>
            </a:r>
            <a:r>
              <a:rPr lang="en-US" dirty="0"/>
              <a:t> Kharif is the most profitable season, while Zaid operates at a loss due to costs exceeding revenue.</a:t>
            </a:r>
          </a:p>
        </p:txBody>
      </p:sp>
    </p:spTree>
    <p:extLst>
      <p:ext uri="{BB962C8B-B14F-4D97-AF65-F5344CB8AC3E}">
        <p14:creationId xmlns:p14="http://schemas.microsoft.com/office/powerpoint/2010/main" val="10862254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ACC002-742A-198E-1F72-123D1AB76982}"/>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9BE5ECB-D609-3C34-5F81-5EF9CD239E5C}"/>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4F69A8-E5DD-D92E-979E-EB3270EA32B0}"/>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pic>
        <p:nvPicPr>
          <p:cNvPr id="2" name="Picture 1">
            <a:extLst>
              <a:ext uri="{FF2B5EF4-FFF2-40B4-BE49-F238E27FC236}">
                <a16:creationId xmlns:a16="http://schemas.microsoft.com/office/drawing/2014/main" id="{4EDFECBB-93D8-134C-1A00-01A830C3C460}"/>
              </a:ext>
            </a:extLst>
          </p:cNvPr>
          <p:cNvPicPr>
            <a:picLocks noChangeAspect="1"/>
          </p:cNvPicPr>
          <p:nvPr/>
        </p:nvPicPr>
        <p:blipFill>
          <a:blip r:embed="rId3"/>
          <a:srcRect/>
          <a:stretch/>
        </p:blipFill>
        <p:spPr>
          <a:xfrm>
            <a:off x="889169" y="1090043"/>
            <a:ext cx="7645233" cy="4381553"/>
          </a:xfrm>
          <a:prstGeom prst="rect">
            <a:avLst/>
          </a:prstGeom>
        </p:spPr>
      </p:pic>
      <p:sp>
        <p:nvSpPr>
          <p:cNvPr id="6" name="TextBox 5">
            <a:extLst>
              <a:ext uri="{FF2B5EF4-FFF2-40B4-BE49-F238E27FC236}">
                <a16:creationId xmlns:a16="http://schemas.microsoft.com/office/drawing/2014/main" id="{17021794-61BD-2A55-1DB7-9C27C91C526A}"/>
              </a:ext>
            </a:extLst>
          </p:cNvPr>
          <p:cNvSpPr txBox="1"/>
          <p:nvPr/>
        </p:nvSpPr>
        <p:spPr>
          <a:xfrm>
            <a:off x="1131268" y="5510093"/>
            <a:ext cx="7684741" cy="923330"/>
          </a:xfrm>
          <a:prstGeom prst="rect">
            <a:avLst/>
          </a:prstGeom>
          <a:noFill/>
        </p:spPr>
        <p:txBody>
          <a:bodyPr wrap="square">
            <a:spAutoFit/>
          </a:bodyPr>
          <a:lstStyle/>
          <a:p>
            <a:pPr marL="285750" indent="-285750" algn="just">
              <a:buFont typeface="Arial" panose="020B0604020202020204" pitchFamily="34" charset="0"/>
              <a:buChar char="•"/>
            </a:pPr>
            <a:r>
              <a:rPr lang="en-US" b="1" dirty="0"/>
              <a:t>Key Insight:</a:t>
            </a:r>
            <a:r>
              <a:rPr lang="en-US" dirty="0"/>
              <a:t> Kharif has the highest rainfall and humidity, while Zaid is the hottest and driest season, highlighting clear seasonal differences in environmental conditions.</a:t>
            </a:r>
          </a:p>
        </p:txBody>
      </p:sp>
    </p:spTree>
    <p:extLst>
      <p:ext uri="{BB962C8B-B14F-4D97-AF65-F5344CB8AC3E}">
        <p14:creationId xmlns:p14="http://schemas.microsoft.com/office/powerpoint/2010/main" val="1276277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715F28-1DAA-3493-8A5E-82895D46978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8547E41E-F653-4569-BC08-F9900C019D24}"/>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3159BF-7DFC-0A14-70D1-B0B1C20C8E91}"/>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pic>
        <p:nvPicPr>
          <p:cNvPr id="2" name="Picture 1">
            <a:extLst>
              <a:ext uri="{FF2B5EF4-FFF2-40B4-BE49-F238E27FC236}">
                <a16:creationId xmlns:a16="http://schemas.microsoft.com/office/drawing/2014/main" id="{5484108F-B45D-6987-4078-BDF751C8F4D4}"/>
              </a:ext>
            </a:extLst>
          </p:cNvPr>
          <p:cNvPicPr>
            <a:picLocks noChangeAspect="1"/>
          </p:cNvPicPr>
          <p:nvPr/>
        </p:nvPicPr>
        <p:blipFill>
          <a:blip r:embed="rId3"/>
          <a:srcRect/>
          <a:stretch/>
        </p:blipFill>
        <p:spPr>
          <a:xfrm>
            <a:off x="1177547" y="1235362"/>
            <a:ext cx="7801176" cy="4124689"/>
          </a:xfrm>
          <a:prstGeom prst="rect">
            <a:avLst/>
          </a:prstGeom>
        </p:spPr>
      </p:pic>
      <p:sp>
        <p:nvSpPr>
          <p:cNvPr id="6" name="TextBox 5">
            <a:extLst>
              <a:ext uri="{FF2B5EF4-FFF2-40B4-BE49-F238E27FC236}">
                <a16:creationId xmlns:a16="http://schemas.microsoft.com/office/drawing/2014/main" id="{F4AC5DAD-6915-42D9-A35E-1FD5DDEED1BB}"/>
              </a:ext>
            </a:extLst>
          </p:cNvPr>
          <p:cNvSpPr txBox="1"/>
          <p:nvPr/>
        </p:nvSpPr>
        <p:spPr>
          <a:xfrm>
            <a:off x="1121329" y="5360052"/>
            <a:ext cx="7684741" cy="923330"/>
          </a:xfrm>
          <a:prstGeom prst="rect">
            <a:avLst/>
          </a:prstGeom>
          <a:noFill/>
        </p:spPr>
        <p:txBody>
          <a:bodyPr wrap="square">
            <a:spAutoFit/>
          </a:bodyPr>
          <a:lstStyle/>
          <a:p>
            <a:pPr marL="285750" indent="-285750" algn="just">
              <a:buFont typeface="Arial" panose="020B0604020202020204" pitchFamily="34" charset="0"/>
              <a:buChar char="•"/>
            </a:pPr>
            <a:r>
              <a:rPr lang="en-US" b="1" dirty="0"/>
              <a:t>Key Insight:</a:t>
            </a:r>
            <a:r>
              <a:rPr lang="en-US" dirty="0"/>
              <a:t> Kharif uses the highest water resources, while Zaid consumes the most water overall, highlighting the need for improved seasonal water management.</a:t>
            </a:r>
          </a:p>
        </p:txBody>
      </p:sp>
    </p:spTree>
    <p:extLst>
      <p:ext uri="{BB962C8B-B14F-4D97-AF65-F5344CB8AC3E}">
        <p14:creationId xmlns:p14="http://schemas.microsoft.com/office/powerpoint/2010/main" val="21465600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361884-61FF-2A2E-DE8F-E590FA301D5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0FE0D94-F10A-CFEA-EEE7-D7B569C945A8}"/>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2CF9F994-737E-AFCE-02B1-8880236215D1}"/>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pic>
        <p:nvPicPr>
          <p:cNvPr id="2" name="Picture 1">
            <a:extLst>
              <a:ext uri="{FF2B5EF4-FFF2-40B4-BE49-F238E27FC236}">
                <a16:creationId xmlns:a16="http://schemas.microsoft.com/office/drawing/2014/main" id="{0AAF50F9-0ABF-BDF3-6C5A-30E1719799D2}"/>
              </a:ext>
            </a:extLst>
          </p:cNvPr>
          <p:cNvPicPr>
            <a:picLocks noChangeAspect="1"/>
          </p:cNvPicPr>
          <p:nvPr/>
        </p:nvPicPr>
        <p:blipFill>
          <a:blip r:embed="rId3"/>
          <a:srcRect/>
          <a:stretch/>
        </p:blipFill>
        <p:spPr>
          <a:xfrm>
            <a:off x="1171025" y="1060721"/>
            <a:ext cx="7545592" cy="4780359"/>
          </a:xfrm>
          <a:prstGeom prst="rect">
            <a:avLst/>
          </a:prstGeom>
        </p:spPr>
      </p:pic>
      <p:sp>
        <p:nvSpPr>
          <p:cNvPr id="6" name="TextBox 5">
            <a:extLst>
              <a:ext uri="{FF2B5EF4-FFF2-40B4-BE49-F238E27FC236}">
                <a16:creationId xmlns:a16="http://schemas.microsoft.com/office/drawing/2014/main" id="{F4B56590-AD25-442A-D28C-F186EE968AAA}"/>
              </a:ext>
            </a:extLst>
          </p:cNvPr>
          <p:cNvSpPr txBox="1"/>
          <p:nvPr/>
        </p:nvSpPr>
        <p:spPr>
          <a:xfrm>
            <a:off x="1101451" y="5841080"/>
            <a:ext cx="7684741" cy="646331"/>
          </a:xfrm>
          <a:prstGeom prst="rect">
            <a:avLst/>
          </a:prstGeom>
          <a:noFill/>
        </p:spPr>
        <p:txBody>
          <a:bodyPr wrap="square">
            <a:spAutoFit/>
          </a:bodyPr>
          <a:lstStyle/>
          <a:p>
            <a:pPr marL="285750" indent="-285750" algn="just">
              <a:buFont typeface="Arial" panose="020B0604020202020204" pitchFamily="34" charset="0"/>
              <a:buChar char="•"/>
            </a:pPr>
            <a:r>
              <a:rPr lang="en-US" b="1" dirty="0"/>
              <a:t>Key Insight:</a:t>
            </a:r>
            <a:r>
              <a:rPr lang="en-US" dirty="0"/>
              <a:t> Flood irrigation is the most widely used method across all seasons, while Drip irrigation has a smaller but consistent share.</a:t>
            </a:r>
          </a:p>
        </p:txBody>
      </p:sp>
    </p:spTree>
    <p:extLst>
      <p:ext uri="{BB962C8B-B14F-4D97-AF65-F5344CB8AC3E}">
        <p14:creationId xmlns:p14="http://schemas.microsoft.com/office/powerpoint/2010/main" val="6937350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88824C-7EF8-4534-1F97-E5E3C6723657}"/>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84E4946D-2632-6953-FD7A-C64223901E1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B6F51DD-C241-E8E2-4C23-458D73AB8C96}"/>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pic>
        <p:nvPicPr>
          <p:cNvPr id="2" name="Picture 1">
            <a:extLst>
              <a:ext uri="{FF2B5EF4-FFF2-40B4-BE49-F238E27FC236}">
                <a16:creationId xmlns:a16="http://schemas.microsoft.com/office/drawing/2014/main" id="{50D0717D-CE47-C6BD-B3E6-D4631B915ACE}"/>
              </a:ext>
            </a:extLst>
          </p:cNvPr>
          <p:cNvPicPr>
            <a:picLocks noChangeAspect="1"/>
          </p:cNvPicPr>
          <p:nvPr/>
        </p:nvPicPr>
        <p:blipFill>
          <a:blip r:embed="rId3"/>
          <a:srcRect/>
          <a:stretch/>
        </p:blipFill>
        <p:spPr>
          <a:xfrm>
            <a:off x="843033" y="1169868"/>
            <a:ext cx="7217601" cy="4571762"/>
          </a:xfrm>
          <a:prstGeom prst="rect">
            <a:avLst/>
          </a:prstGeom>
        </p:spPr>
      </p:pic>
      <p:sp>
        <p:nvSpPr>
          <p:cNvPr id="6" name="TextBox 5">
            <a:extLst>
              <a:ext uri="{FF2B5EF4-FFF2-40B4-BE49-F238E27FC236}">
                <a16:creationId xmlns:a16="http://schemas.microsoft.com/office/drawing/2014/main" id="{A86AE21D-1B12-1FD2-5004-30834DEAF8C4}"/>
              </a:ext>
            </a:extLst>
          </p:cNvPr>
          <p:cNvSpPr txBox="1"/>
          <p:nvPr/>
        </p:nvSpPr>
        <p:spPr>
          <a:xfrm>
            <a:off x="843033" y="5841329"/>
            <a:ext cx="8161818" cy="923330"/>
          </a:xfrm>
          <a:prstGeom prst="rect">
            <a:avLst/>
          </a:prstGeom>
          <a:noFill/>
        </p:spPr>
        <p:txBody>
          <a:bodyPr wrap="square">
            <a:spAutoFit/>
          </a:bodyPr>
          <a:lstStyle/>
          <a:p>
            <a:pPr marL="285750" indent="-285750" algn="just">
              <a:buFont typeface="Arial" panose="020B0604020202020204" pitchFamily="34" charset="0"/>
              <a:buChar char="•"/>
            </a:pPr>
            <a:r>
              <a:rPr lang="en-US" b="1" dirty="0"/>
              <a:t>Key Insight:</a:t>
            </a:r>
            <a:r>
              <a:rPr lang="en-US" dirty="0"/>
              <a:t> Kharif is the most profitable season across most states, while Zaid records negative profits in several states, showing strong regional and seasonal variation in profitability.</a:t>
            </a:r>
          </a:p>
        </p:txBody>
      </p:sp>
    </p:spTree>
    <p:extLst>
      <p:ext uri="{BB962C8B-B14F-4D97-AF65-F5344CB8AC3E}">
        <p14:creationId xmlns:p14="http://schemas.microsoft.com/office/powerpoint/2010/main" val="12529755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1AD0AC-6897-C4EE-85B7-1A33B1A76AA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20D1E10D-FFEA-1007-518F-85C81EB19498}"/>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E6D20187-DAD1-EF86-77AE-81392C7C3F15}"/>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pic>
        <p:nvPicPr>
          <p:cNvPr id="2" name="Picture 1">
            <a:extLst>
              <a:ext uri="{FF2B5EF4-FFF2-40B4-BE49-F238E27FC236}">
                <a16:creationId xmlns:a16="http://schemas.microsoft.com/office/drawing/2014/main" id="{29BAABBE-B020-A822-7DC4-102ACAAC8537}"/>
              </a:ext>
            </a:extLst>
          </p:cNvPr>
          <p:cNvPicPr>
            <a:picLocks noChangeAspect="1"/>
          </p:cNvPicPr>
          <p:nvPr/>
        </p:nvPicPr>
        <p:blipFill>
          <a:blip r:embed="rId3"/>
          <a:srcRect/>
          <a:stretch/>
        </p:blipFill>
        <p:spPr>
          <a:xfrm>
            <a:off x="1196936" y="1172942"/>
            <a:ext cx="7032664" cy="4602688"/>
          </a:xfrm>
          <a:prstGeom prst="rect">
            <a:avLst/>
          </a:prstGeom>
        </p:spPr>
      </p:pic>
      <p:sp>
        <p:nvSpPr>
          <p:cNvPr id="6" name="TextBox 5">
            <a:extLst>
              <a:ext uri="{FF2B5EF4-FFF2-40B4-BE49-F238E27FC236}">
                <a16:creationId xmlns:a16="http://schemas.microsoft.com/office/drawing/2014/main" id="{C8ED7405-C3CF-8CCB-FCFA-7992F74B3F56}"/>
              </a:ext>
            </a:extLst>
          </p:cNvPr>
          <p:cNvSpPr txBox="1"/>
          <p:nvPr/>
        </p:nvSpPr>
        <p:spPr>
          <a:xfrm>
            <a:off x="675957" y="5775630"/>
            <a:ext cx="8189747" cy="923330"/>
          </a:xfrm>
          <a:prstGeom prst="rect">
            <a:avLst/>
          </a:prstGeom>
          <a:noFill/>
        </p:spPr>
        <p:txBody>
          <a:bodyPr wrap="square">
            <a:spAutoFit/>
          </a:bodyPr>
          <a:lstStyle/>
          <a:p>
            <a:pPr marL="285750" indent="-285750" algn="just">
              <a:buFont typeface="Arial" panose="020B0604020202020204" pitchFamily="34" charset="0"/>
              <a:buChar char="•"/>
            </a:pPr>
            <a:r>
              <a:rPr lang="en-US" b="1" dirty="0"/>
              <a:t>Key Insight:</a:t>
            </a:r>
            <a:r>
              <a:rPr lang="en-US" dirty="0"/>
              <a:t> Disease/Pest risk shows variation across seasons, but the relationship with agricultural yield is not consistently strong, indicating that other factors also influence yield.</a:t>
            </a:r>
          </a:p>
        </p:txBody>
      </p:sp>
    </p:spTree>
    <p:extLst>
      <p:ext uri="{BB962C8B-B14F-4D97-AF65-F5344CB8AC3E}">
        <p14:creationId xmlns:p14="http://schemas.microsoft.com/office/powerpoint/2010/main" val="29563254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8B97BC-1C45-6DC9-91B8-D86FD8B759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21E71A3F-BDD1-B3A8-696B-B93BF9B9B62F}"/>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41A804B-8CF3-42E7-23CE-21E07E44D441}"/>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pic>
        <p:nvPicPr>
          <p:cNvPr id="2" name="Picture 1">
            <a:extLst>
              <a:ext uri="{FF2B5EF4-FFF2-40B4-BE49-F238E27FC236}">
                <a16:creationId xmlns:a16="http://schemas.microsoft.com/office/drawing/2014/main" id="{C99E9E58-71B1-CF56-0596-295CA0517444}"/>
              </a:ext>
            </a:extLst>
          </p:cNvPr>
          <p:cNvPicPr>
            <a:picLocks noChangeAspect="1"/>
          </p:cNvPicPr>
          <p:nvPr/>
        </p:nvPicPr>
        <p:blipFill>
          <a:blip r:embed="rId3"/>
          <a:srcRect/>
          <a:stretch/>
        </p:blipFill>
        <p:spPr>
          <a:xfrm>
            <a:off x="1517247" y="1098305"/>
            <a:ext cx="6892904" cy="4661389"/>
          </a:xfrm>
          <a:prstGeom prst="rect">
            <a:avLst/>
          </a:prstGeom>
        </p:spPr>
      </p:pic>
      <p:sp>
        <p:nvSpPr>
          <p:cNvPr id="6" name="TextBox 5">
            <a:extLst>
              <a:ext uri="{FF2B5EF4-FFF2-40B4-BE49-F238E27FC236}">
                <a16:creationId xmlns:a16="http://schemas.microsoft.com/office/drawing/2014/main" id="{B7E99C63-C427-F6D8-E0B0-57D263C4834F}"/>
              </a:ext>
            </a:extLst>
          </p:cNvPr>
          <p:cNvSpPr txBox="1"/>
          <p:nvPr/>
        </p:nvSpPr>
        <p:spPr>
          <a:xfrm>
            <a:off x="1121328" y="5759694"/>
            <a:ext cx="7684741" cy="923330"/>
          </a:xfrm>
          <a:prstGeom prst="rect">
            <a:avLst/>
          </a:prstGeom>
          <a:noFill/>
        </p:spPr>
        <p:txBody>
          <a:bodyPr wrap="square">
            <a:spAutoFit/>
          </a:bodyPr>
          <a:lstStyle/>
          <a:p>
            <a:pPr marL="285750" indent="-285750" algn="just">
              <a:buFont typeface="Arial" panose="020B0604020202020204" pitchFamily="34" charset="0"/>
              <a:buChar char="•"/>
            </a:pPr>
            <a:r>
              <a:rPr lang="en-US" b="1" dirty="0"/>
              <a:t>Key Insight:</a:t>
            </a:r>
            <a:r>
              <a:rPr lang="en-US" dirty="0"/>
              <a:t> Kharif shows the widest yield variation and highest outliers, while Zaid has a lower overall yield range, indicating seasonal differences in yield distribution.</a:t>
            </a:r>
          </a:p>
        </p:txBody>
      </p:sp>
    </p:spTree>
    <p:extLst>
      <p:ext uri="{BB962C8B-B14F-4D97-AF65-F5344CB8AC3E}">
        <p14:creationId xmlns:p14="http://schemas.microsoft.com/office/powerpoint/2010/main" val="42183224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3" name="TextBox 2">
            <a:extLst>
              <a:ext uri="{FF2B5EF4-FFF2-40B4-BE49-F238E27FC236}">
                <a16:creationId xmlns:a16="http://schemas.microsoft.com/office/drawing/2014/main" id="{D7BD3A80-B30D-2341-FFED-1FB327A8AC5A}"/>
              </a:ext>
            </a:extLst>
          </p:cNvPr>
          <p:cNvSpPr txBox="1"/>
          <p:nvPr/>
        </p:nvSpPr>
        <p:spPr>
          <a:xfrm>
            <a:off x="536712" y="1201586"/>
            <a:ext cx="8239539" cy="4196470"/>
          </a:xfrm>
          <a:prstGeom prst="rect">
            <a:avLst/>
          </a:prstGeom>
          <a:noFill/>
        </p:spPr>
        <p:txBody>
          <a:bodyPr wrap="square">
            <a:spAutoFit/>
          </a:bodyPr>
          <a:lstStyle/>
          <a:p>
            <a:pPr marL="342900" lvl="0" indent="-342900" algn="just">
              <a:lnSpc>
                <a:spcPct val="150000"/>
              </a:lnSpc>
              <a:buFont typeface="Arial" panose="020B0604020202020204" pitchFamily="34" charset="0"/>
              <a:buChar char="•"/>
            </a:pPr>
            <a:r>
              <a:rPr lang="en-US" b="1" dirty="0"/>
              <a:t>Multi-Year Analysis:</a:t>
            </a:r>
            <a:r>
              <a:rPr lang="en-US" dirty="0"/>
              <a:t> Use data from multiple years to validate seasonal trends and improve reliability. </a:t>
            </a:r>
          </a:p>
          <a:p>
            <a:pPr marL="342900" lvl="0" indent="-342900" algn="just">
              <a:lnSpc>
                <a:spcPct val="150000"/>
              </a:lnSpc>
              <a:buFont typeface="Arial" panose="020B0604020202020204" pitchFamily="34" charset="0"/>
              <a:buChar char="•"/>
            </a:pPr>
            <a:r>
              <a:rPr lang="en-US" b="1" dirty="0"/>
              <a:t>Predictive Analytics:</a:t>
            </a:r>
            <a:r>
              <a:rPr lang="en-US" dirty="0"/>
              <a:t> Develop machine-learning models to forecast </a:t>
            </a:r>
            <a:r>
              <a:rPr lang="en-US" b="1" dirty="0"/>
              <a:t>crop yield, revenue and profitability</a:t>
            </a:r>
            <a:r>
              <a:rPr lang="en-US" dirty="0"/>
              <a:t>. </a:t>
            </a:r>
          </a:p>
          <a:p>
            <a:pPr marL="342900" lvl="0" indent="-342900" algn="just">
              <a:lnSpc>
                <a:spcPct val="150000"/>
              </a:lnSpc>
              <a:buFont typeface="Arial" panose="020B0604020202020204" pitchFamily="34" charset="0"/>
              <a:buChar char="•"/>
            </a:pPr>
            <a:r>
              <a:rPr lang="en-US" b="1" dirty="0"/>
              <a:t>Weather Integration:</a:t>
            </a:r>
            <a:r>
              <a:rPr lang="en-US" dirty="0"/>
              <a:t> Incorporate real-time weather and climate data for better seasonal prediction. </a:t>
            </a:r>
          </a:p>
          <a:p>
            <a:pPr marL="342900" lvl="0" indent="-342900" algn="just">
              <a:lnSpc>
                <a:spcPct val="150000"/>
              </a:lnSpc>
              <a:buFont typeface="Arial" panose="020B0604020202020204" pitchFamily="34" charset="0"/>
              <a:buChar char="•"/>
            </a:pPr>
            <a:r>
              <a:rPr lang="en-US" b="1" dirty="0"/>
              <a:t>Crop &amp; Region Optimization:</a:t>
            </a:r>
            <a:r>
              <a:rPr lang="en-US" dirty="0"/>
              <a:t> Identify the most suitable </a:t>
            </a:r>
            <a:r>
              <a:rPr lang="en-US" b="1" dirty="0"/>
              <a:t>crop–season–region combinations</a:t>
            </a:r>
            <a:r>
              <a:rPr lang="en-US" dirty="0"/>
              <a:t> for higher returns. </a:t>
            </a:r>
          </a:p>
          <a:p>
            <a:pPr marL="342900" lvl="0" indent="-342900" algn="just">
              <a:lnSpc>
                <a:spcPct val="150000"/>
              </a:lnSpc>
              <a:buFont typeface="Arial" panose="020B0604020202020204" pitchFamily="34" charset="0"/>
              <a:buChar char="•"/>
            </a:pPr>
            <a:r>
              <a:rPr lang="en-US" b="1" dirty="0"/>
              <a:t>Smart Resource Management:</a:t>
            </a:r>
            <a:r>
              <a:rPr lang="en-US" dirty="0"/>
              <a:t> Optimize </a:t>
            </a:r>
            <a:r>
              <a:rPr lang="en-US" b="1" dirty="0"/>
              <a:t>water, fertilizer and irrigation usage</a:t>
            </a:r>
            <a:r>
              <a:rPr lang="en-US" dirty="0"/>
              <a:t> to improve productivity and sustainability.</a:t>
            </a:r>
          </a:p>
        </p:txBody>
      </p:sp>
    </p:spTree>
    <p:extLst>
      <p:ext uri="{BB962C8B-B14F-4D97-AF65-F5344CB8AC3E}">
        <p14:creationId xmlns:p14="http://schemas.microsoft.com/office/powerpoint/2010/main" val="7768281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6" name="TextBox 5">
            <a:extLst>
              <a:ext uri="{FF2B5EF4-FFF2-40B4-BE49-F238E27FC236}">
                <a16:creationId xmlns:a16="http://schemas.microsoft.com/office/drawing/2014/main" id="{FF9FEEDB-5916-0558-F809-FD83CC434BBA}"/>
              </a:ext>
            </a:extLst>
          </p:cNvPr>
          <p:cNvSpPr txBox="1"/>
          <p:nvPr/>
        </p:nvSpPr>
        <p:spPr>
          <a:xfrm>
            <a:off x="675957" y="1317981"/>
            <a:ext cx="6102626" cy="646331"/>
          </a:xfrm>
          <a:prstGeom prst="rect">
            <a:avLst/>
          </a:prstGeom>
          <a:noFill/>
        </p:spPr>
        <p:txBody>
          <a:bodyPr wrap="square">
            <a:spAutoFit/>
          </a:bodyPr>
          <a:lstStyle/>
          <a:p>
            <a:r>
              <a:rPr lang="en-US" dirty="0">
                <a:hlinkClick r:id="rId3"/>
              </a:rPr>
              <a:t>https://github.com/Anirban-Bishnu/Seasonal-Agriculture-Performance-Analysis/tree/main</a:t>
            </a:r>
            <a:endParaRPr lang="en-US" dirty="0"/>
          </a:p>
        </p:txBody>
      </p:sp>
      <p:sp>
        <p:nvSpPr>
          <p:cNvPr id="11" name="TextBox 10">
            <a:extLst>
              <a:ext uri="{FF2B5EF4-FFF2-40B4-BE49-F238E27FC236}">
                <a16:creationId xmlns:a16="http://schemas.microsoft.com/office/drawing/2014/main" id="{1604C8D2-2FAD-62AC-90EF-E34D6A6E32E1}"/>
              </a:ext>
            </a:extLst>
          </p:cNvPr>
          <p:cNvSpPr txBox="1"/>
          <p:nvPr/>
        </p:nvSpPr>
        <p:spPr>
          <a:xfrm>
            <a:off x="675957" y="2610643"/>
            <a:ext cx="4492391" cy="369332"/>
          </a:xfrm>
          <a:prstGeom prst="rect">
            <a:avLst/>
          </a:prstGeom>
          <a:noFill/>
        </p:spPr>
        <p:txBody>
          <a:bodyPr wrap="square" rtlCol="0">
            <a:spAutoFit/>
          </a:bodyPr>
          <a:lstStyle/>
          <a:p>
            <a:r>
              <a:rPr lang="en-US" dirty="0"/>
              <a:t>Google </a:t>
            </a:r>
            <a:r>
              <a:rPr lang="en-US" dirty="0" err="1"/>
              <a:t>Colab</a:t>
            </a:r>
            <a:r>
              <a:rPr lang="en-US" dirty="0"/>
              <a:t> Link : </a:t>
            </a:r>
          </a:p>
        </p:txBody>
      </p:sp>
      <p:sp>
        <p:nvSpPr>
          <p:cNvPr id="3" name="TextBox 2">
            <a:hlinkClick r:id="rId4"/>
            <a:extLst>
              <a:ext uri="{FF2B5EF4-FFF2-40B4-BE49-F238E27FC236}">
                <a16:creationId xmlns:a16="http://schemas.microsoft.com/office/drawing/2014/main" id="{39C872DA-3088-695E-169D-0F3F7781709F}"/>
              </a:ext>
            </a:extLst>
          </p:cNvPr>
          <p:cNvSpPr txBox="1"/>
          <p:nvPr/>
        </p:nvSpPr>
        <p:spPr>
          <a:xfrm>
            <a:off x="675957" y="3231695"/>
            <a:ext cx="6100354" cy="646331"/>
          </a:xfrm>
          <a:prstGeom prst="rect">
            <a:avLst/>
          </a:prstGeom>
          <a:noFill/>
        </p:spPr>
        <p:txBody>
          <a:bodyPr wrap="square">
            <a:spAutoFit/>
          </a:bodyPr>
          <a:lstStyle/>
          <a:p>
            <a:r>
              <a:rPr lang="en-IN" dirty="0">
                <a:hlinkClick r:id="rId4"/>
              </a:rPr>
              <a:t>https://colab.research.google.com/drive/1M4RQRjmjWe2si6QuJ2pzNEyjS4IO3rNT#scrollTo=2nbKqI9rdDVd</a:t>
            </a:r>
            <a:endParaRPr lang="en-IN" dirty="0"/>
          </a:p>
        </p:txBody>
      </p:sp>
    </p:spTree>
    <p:extLst>
      <p:ext uri="{BB962C8B-B14F-4D97-AF65-F5344CB8AC3E}">
        <p14:creationId xmlns:p14="http://schemas.microsoft.com/office/powerpoint/2010/main" val="38636104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wrap="square">
            <a:normAutofit/>
          </a:bodyPr>
          <a:lstStyle/>
          <a:p>
            <a:pPr algn="l"/>
            <a:r>
              <a:rPr sz="1900" b="1">
                <a:solidFill>
                  <a:srgbClr val="142837"/>
                </a:solidFill>
                <a:latin typeface="Aptos"/>
              </a:rPr>
              <a:t>VOIS Course Completion Certificate –
Course name: Data Visualization</a:t>
            </a:r>
          </a:p>
        </p:txBody>
      </p:sp>
      <p:pic>
        <p:nvPicPr>
          <p:cNvPr id="6" name="Picture 5">
            <a:extLst>
              <a:ext uri="{FF2B5EF4-FFF2-40B4-BE49-F238E27FC236}">
                <a16:creationId xmlns:a16="http://schemas.microsoft.com/office/drawing/2014/main" id="{400987A8-0FAD-39DA-8B8C-B0295E328663}"/>
              </a:ext>
            </a:extLst>
          </p:cNvPr>
          <p:cNvPicPr>
            <a:picLocks noChangeAspect="1"/>
          </p:cNvPicPr>
          <p:nvPr/>
        </p:nvPicPr>
        <p:blipFill>
          <a:blip r:embed="rId3"/>
          <a:stretch>
            <a:fillRect/>
          </a:stretch>
        </p:blipFill>
        <p:spPr>
          <a:xfrm>
            <a:off x="1017115" y="1255247"/>
            <a:ext cx="6742222" cy="4770294"/>
          </a:xfrm>
          <a:prstGeom prst="rect">
            <a:avLst/>
          </a:prstGeom>
        </p:spPr>
      </p:pic>
    </p:spTree>
    <p:extLst>
      <p:ext uri="{BB962C8B-B14F-4D97-AF65-F5344CB8AC3E}">
        <p14:creationId xmlns:p14="http://schemas.microsoft.com/office/powerpoint/2010/main" val="39628022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426000" y="3078943"/>
            <a:ext cx="11340000" cy="700114"/>
          </a:xfrm>
          <a:prstGeom prst="rect">
            <a:avLst/>
          </a:prstGeom>
        </p:spPr>
        <p:txBody>
          <a:bodyPr wrap="square" anchor="ctr">
            <a:noAutofit/>
          </a:bodyPr>
          <a:lstStyle/>
          <a:p>
            <a:pPr algn="ctr"/>
            <a:r>
              <a:rPr sz="4800" b="1" dirty="0">
                <a:solidFill>
                  <a:srgbClr val="142837"/>
                </a:solidFill>
                <a:latin typeface="Aptos"/>
              </a:rPr>
              <a:t>Thank you</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ext Placeholder 3">
            <a:extLst>
              <a:ext uri="{FF2B5EF4-FFF2-40B4-BE49-F238E27FC236}">
                <a16:creationId xmlns:a16="http://schemas.microsoft.com/office/drawing/2014/main" id="{523F0DE3-CD61-30C3-1379-BF5DBECB13A8}"/>
              </a:ext>
            </a:extLst>
          </p:cNvPr>
          <p:cNvSpPr>
            <a:spLocks noGrp="1"/>
          </p:cNvSpPr>
          <p:nvPr>
            <p:ph type="body" sz="quarter" idx="13"/>
          </p:nvPr>
        </p:nvSpPr>
        <p:spPr/>
        <p:txBody>
          <a:bodyPr/>
          <a:lstStyle/>
          <a:p>
            <a:r>
              <a:rPr lang="en-US" dirty="0"/>
              <a:t> </a:t>
            </a:r>
          </a:p>
        </p:txBody>
      </p:sp>
    </p:spTree>
    <p:extLst>
      <p:ext uri="{BB962C8B-B14F-4D97-AF65-F5344CB8AC3E}">
        <p14:creationId xmlns:p14="http://schemas.microsoft.com/office/powerpoint/2010/main" val="3401748718"/>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1628</TotalTime>
  <Words>629</Words>
  <Application>Microsoft Office PowerPoint</Application>
  <PresentationFormat>Widescreen</PresentationFormat>
  <Paragraphs>61</Paragraphs>
  <Slides>15</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Aptos</vt:lpstr>
      <vt:lpstr>Arial</vt:lpstr>
      <vt:lpstr>Calibri</vt:lpstr>
      <vt:lpstr>Trebuchet MS</vt:lpstr>
      <vt:lpstr>Wingdings</vt:lpstr>
      <vt:lpstr>Wingdings 3</vt:lpstr>
      <vt:lpstr>Facet</vt:lpstr>
      <vt:lpstr>Project Title –  Seasonal Agriculture Performance Analysis</vt:lpstr>
      <vt:lpstr>PROBLEM  STATEMENT</vt:lpstr>
      <vt:lpstr>WHO ARE THE END USERS?</vt:lpstr>
      <vt:lpstr>Technology Used</vt:lpstr>
      <vt:lpstr>RESULTS </vt:lpstr>
      <vt:lpstr>RESULTS </vt:lpstr>
      <vt:lpstr>RESULTS </vt:lpstr>
      <vt:lpstr>RESULTS </vt:lpstr>
      <vt:lpstr>RESULTS </vt:lpstr>
      <vt:lpstr>RESULTS </vt:lpstr>
      <vt:lpstr>RESULTS </vt:lpstr>
      <vt:lpstr>Future scope</vt:lpstr>
      <vt:lpstr>GitHub Link</vt:lpstr>
      <vt:lpstr>VOIS Course Completion Certificate –
Course name: Data Visualization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ARINDAM BISHNU</cp:lastModifiedBy>
  <cp:revision>101</cp:revision>
  <dcterms:created xsi:type="dcterms:W3CDTF">2021-07-11T13:13:15Z</dcterms:created>
  <dcterms:modified xsi:type="dcterms:W3CDTF">2026-09-24T06:40:26Z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